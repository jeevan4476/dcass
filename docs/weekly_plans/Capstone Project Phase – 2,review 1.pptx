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0"/>
  </p:notesMasterIdLst>
  <p:handoutMasterIdLst>
    <p:handoutMasterId r:id="rId21"/>
  </p:handoutMasterIdLst>
  <p:sldIdLst>
    <p:sldId id="538" r:id="rId2"/>
    <p:sldId id="535" r:id="rId3"/>
    <p:sldId id="572" r:id="rId4"/>
    <p:sldId id="569" r:id="rId5"/>
    <p:sldId id="557" r:id="rId6"/>
    <p:sldId id="573" r:id="rId7"/>
    <p:sldId id="585" r:id="rId8"/>
    <p:sldId id="562" r:id="rId9"/>
    <p:sldId id="563" r:id="rId10"/>
    <p:sldId id="571" r:id="rId11"/>
    <p:sldId id="566" r:id="rId12"/>
    <p:sldId id="567" r:id="rId13"/>
    <p:sldId id="564" r:id="rId14"/>
    <p:sldId id="583" r:id="rId15"/>
    <p:sldId id="545" r:id="rId16"/>
    <p:sldId id="584" r:id="rId17"/>
    <p:sldId id="552" r:id="rId18"/>
    <p:sldId id="549" r:id="rId19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81" d="100"/>
          <a:sy n="81" d="100"/>
        </p:scale>
        <p:origin x="744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43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25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C5D8-82E7-D74A-CA0C-1B8BE28C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95CBB-C80E-B47E-6FDE-F8FC217AA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B1881-580E-EFC6-B57A-04190C23A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B88FC-240A-ABD8-9A73-B62731F80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1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4564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6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6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A3B97CAD-824E-EAC1-FC41-3EEEC584AA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600200"/>
            <a:ext cx="792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Trebuchet MS" pitchFamily="34" charset="0"/>
              </a:rPr>
              <a:t>UE23CS320B–  </a:t>
            </a:r>
            <a:r>
              <a:rPr lang="en-US" sz="2800" b="1" dirty="0">
                <a:solidFill>
                  <a:srgbClr val="FF0000"/>
                </a:solidFill>
                <a:latin typeface="Trebuchet MS" pitchFamily="34" charset="0"/>
              </a:rPr>
              <a:t>Project Phase – 2</a:t>
            </a:r>
          </a:p>
          <a:p>
            <a:pPr algn="ct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Capstone Project –Phase 2 –review 1</a:t>
            </a:r>
            <a:endParaRPr lang="en-US" sz="36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703512" y="4105167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lang="en-IN"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1676400"/>
            <a:ext cx="80772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Problem Statement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Abstract and Scope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Suggestions from Phase-1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Requirements Specification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Data set and requirements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Approach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Constraints, Assumptions &amp; Dependencies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Proposed System / Approach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Architecture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Description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Project Progress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References</a:t>
            </a:r>
            <a:endParaRPr lang="en-US" sz="20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38380"/>
            <a:ext cx="8077200" cy="4162419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Well defined problem statement</a:t>
            </a:r>
          </a:p>
          <a:p>
            <a:pPr marL="1142991" lvl="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It should clearly specify the problem</a:t>
            </a:r>
            <a:endParaRPr lang="en-IN" sz="2400" kern="0" dirty="0"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8220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an overview of scope it entails.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905000" y="2092332"/>
            <a:ext cx="8077200" cy="4384667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the suggestions and remarks given by the panel members. 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Explain how each remark by panel members is addressed in the current system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Suggestions from Phase-1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905000" y="2092332"/>
            <a:ext cx="8077200" cy="4384667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Provide Project Requirements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kern="0" dirty="0">
              <a:solidFill>
                <a:srgbClr val="0000FF"/>
              </a:solidFill>
              <a:latin typeface="Trebuchet MS" pitchFamily="34" charset="0"/>
              <a:sym typeface="Trebuchet MS"/>
            </a:endParaRP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What technologies you plan to use? and why?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Requirements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668997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E465-1C9C-615D-D8B2-6BD7FD5F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B2E6A7-557D-A993-ED2E-5D6609477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1EFFDC-2826-2D08-06DD-67E6EDFE1872}"/>
              </a:ext>
            </a:extLst>
          </p:cNvPr>
          <p:cNvSpPr txBox="1">
            <a:spLocks/>
          </p:cNvSpPr>
          <p:nvPr/>
        </p:nvSpPr>
        <p:spPr>
          <a:xfrm>
            <a:off x="1905000" y="2092332"/>
            <a:ext cx="8077200" cy="4384667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ct val="20000"/>
              </a:spcBef>
              <a:defRPr/>
            </a:pPr>
            <a:endParaRPr lang="en-US" sz="2400" kern="0" dirty="0">
              <a:solidFill>
                <a:srgbClr val="0000FF"/>
              </a:solidFill>
              <a:latin typeface="Trebuchet MS" pitchFamily="34" charset="0"/>
              <a:sym typeface="Trebuchet MS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68821C58-7138-7937-D52E-94E24F9A8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Data set and requirements</a:t>
            </a:r>
          </a:p>
        </p:txBody>
      </p:sp>
    </p:spTree>
    <p:extLst>
      <p:ext uri="{BB962C8B-B14F-4D97-AF65-F5344CB8AC3E}">
        <p14:creationId xmlns:p14="http://schemas.microsoft.com/office/powerpoint/2010/main" val="3473402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 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2041000" y="2133600"/>
            <a:ext cx="9160400" cy="277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What is the design approach followed? And Why?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Benefits of this approach &amp; are there any drawbacks?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Alternate design approaches, if any.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FF0000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</a:rPr>
              <a:t>Note: Applicable to prototype/product based project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&amp; Dependencies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9619900" cy="309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Discuss the design constraints and assumptions that you have made to select the design approach.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Discuss any dependencies that your design approach has and their impact on the project.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</a:rPr>
              <a:t>Note: Applicable to prototype/product based project</a:t>
            </a:r>
            <a:endParaRPr lang="en-US" sz="2400" dirty="0">
              <a:solidFill>
                <a:srgbClr val="0033CC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Details</a:t>
            </a:r>
          </a:p>
        </p:txBody>
      </p:sp>
      <p:sp>
        <p:nvSpPr>
          <p:cNvPr id="47" name="Google Shape;47;p6"/>
          <p:cNvSpPr txBox="1"/>
          <p:nvPr/>
        </p:nvSpPr>
        <p:spPr>
          <a:xfrm>
            <a:off x="1219200" y="2133600"/>
            <a:ext cx="10439400" cy="277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</a:rPr>
              <a:t>Briefly describe all the platforms, systems, and processes that it depends on and comprise any vital changes that need to be made to them. 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</a:rPr>
              <a:t>Below are some examples but it is not an exhaustive list: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</a:rPr>
              <a:t>Novelty, Innovativeness, Interoperability, Performance, Security, Reliability, Maintainability, Portability, Legacy to Modernization, Reusability, Application Compatibility.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</a:rPr>
              <a:t>Note: Applicable to Research project</a:t>
            </a:r>
            <a:endParaRPr lang="en-US" sz="2400" dirty="0">
              <a:solidFill>
                <a:srgbClr val="0033CC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6707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System / Approach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7005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Add as many slides as required to cover the following aspects: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Basic Approach and results obtained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Is there a need for changing the approach?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Details of the new approach- benefits/drawbacks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8553100" cy="377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high-level design view of the system.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the logical user groups, application components, data components, and interfacing systems. Illustrate the collaboration and interaction between the major components.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048000" y="1581151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2895600" y="1143001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</a:t>
            </a:r>
            <a:endParaRPr lang="en-US" sz="2400" dirty="0"/>
          </a:p>
        </p:txBody>
      </p:sp>
      <p:sp>
        <p:nvSpPr>
          <p:cNvPr id="62" name="Google Shape;62;p8"/>
          <p:cNvSpPr txBox="1"/>
          <p:nvPr/>
        </p:nvSpPr>
        <p:spPr>
          <a:xfrm>
            <a:off x="2029650" y="1617675"/>
            <a:ext cx="9019350" cy="4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Add as many slides as required to cover the following aspects: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Master class diagram 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ER Diagram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User Interface Diagrams/ Use Case Diagrams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External Interfaces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,Phase-II and phase -III)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066800" y="2003213"/>
            <a:ext cx="8839199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Provide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timelines for execution of the project through Gantt chart.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The plan in terms of efforts by individuals in the team. </a:t>
            </a:r>
          </a:p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Trebuchet MS"/>
              </a:rPr>
              <a:t>Mention the tasks involved in different stages.</a:t>
            </a:r>
          </a:p>
          <a:p>
            <a:pPr marL="1077913" lvl="1" indent="-265113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400" dirty="0">
              <a:solidFill>
                <a:srgbClr val="0033CC"/>
              </a:solidFill>
              <a:latin typeface="Trebuchet MS"/>
            </a:endParaRP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940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216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any other information you wish to add on.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Note: Changes can be made in the template, with the consent of the guide for inclusion of any other information.</a:t>
            </a:r>
            <a:endParaRPr lang="en-IN" sz="2400" kern="0" dirty="0"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Conclusion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74062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28800" y="1828800"/>
            <a:ext cx="8458200" cy="4724400"/>
          </a:xfrm>
          <a:prstGeom prst="rect">
            <a:avLst/>
          </a:prstGeom>
        </p:spPr>
        <p:txBody>
          <a:bodyPr/>
          <a:lstStyle/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Provide references pertaining to your research according to IEEE format.</a:t>
            </a: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IN" sz="2000" kern="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358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196</TotalTime>
  <Words>491</Words>
  <Application>Microsoft Office PowerPoint</Application>
  <PresentationFormat>Widescreen</PresentationFormat>
  <Paragraphs>92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bharath mr</cp:lastModifiedBy>
  <cp:revision>42</cp:revision>
  <dcterms:created xsi:type="dcterms:W3CDTF">2020-11-22T08:14:37Z</dcterms:created>
  <dcterms:modified xsi:type="dcterms:W3CDTF">2026-02-03T08:14:33Z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